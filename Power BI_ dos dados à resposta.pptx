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965227"/>
            <a:ext cx="7620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3965227"/>
            <a:ext cx="7620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93196" y="4355752"/>
            <a:ext cx="1129010" cy="276225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86" y="4427190"/>
            <a:ext cx="1143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073" y="4427190"/>
            <a:ext cx="1143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496" y="4427190"/>
            <a:ext cx="1143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22427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786" y="4422427"/>
            <a:ext cx="1809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6773" y="4422427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596" y="4422427"/>
            <a:ext cx="1047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2226022"/>
            <a:ext cx="122629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0A5FA"/>
                </a:solidFill>
                <a:latin typeface="Arial"/>
              </a:rPr>
              <a:t>OFICINA TÉCNIC</a:t>
            </a:r>
            <a:r>
              <a:rPr lang="pt-BR" sz="1050" b="1" i="0" u="none" dirty="0">
                <a:solidFill>
                  <a:srgbClr val="60A5FA"/>
                </a:solidFill>
                <a:latin typeface="Arial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492722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Arial"/>
              </a:rPr>
              <a:t>Power BI: dos dados à resposta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214687"/>
            <a:ext cx="3896901" cy="269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 dirty="0">
                <a:solidFill>
                  <a:srgbClr val="94A3B8"/>
                </a:solidFill>
                <a:latin typeface="Arial"/>
              </a:rPr>
              <a:t>Como </a:t>
            </a:r>
            <a:r>
              <a:rPr sz="1650" b="0" i="0" u="none" dirty="0" err="1">
                <a:solidFill>
                  <a:srgbClr val="94A3B8"/>
                </a:solidFill>
                <a:latin typeface="Arial"/>
              </a:rPr>
              <a:t>transformar</a:t>
            </a:r>
            <a:r>
              <a:rPr sz="1650" b="0" i="0" u="none" dirty="0">
                <a:solidFill>
                  <a:srgbClr val="94A3B8"/>
                </a:solidFill>
                <a:latin typeface="Arial"/>
              </a:rPr>
              <a:t> dados </a:t>
            </a:r>
            <a:r>
              <a:rPr sz="1650" b="0" i="0" u="none" dirty="0" err="1">
                <a:solidFill>
                  <a:srgbClr val="94A3B8"/>
                </a:solidFill>
                <a:latin typeface="Arial"/>
              </a:rPr>
              <a:t>em</a:t>
            </a:r>
            <a:r>
              <a:rPr sz="1650" b="0" i="0" u="none" dirty="0">
                <a:solidFill>
                  <a:srgbClr val="94A3B8"/>
                </a:solidFill>
                <a:latin typeface="Arial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Arial"/>
              </a:rPr>
              <a:t>informaçõe</a:t>
            </a:r>
            <a:r>
              <a:rPr lang="pt-BR" sz="1650" b="0" i="0" u="none" dirty="0">
                <a:solidFill>
                  <a:srgbClr val="94A3B8"/>
                </a:solidFill>
                <a:latin typeface="Arial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412902"/>
            <a:ext cx="722411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Arial"/>
              </a:rPr>
              <a:t>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4961" y="4412902"/>
            <a:ext cx="1880182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Arial"/>
              </a:rPr>
              <a:t>Tratamento &amp;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5848" y="4412902"/>
            <a:ext cx="793998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Arial"/>
              </a:rPr>
              <a:t>Análise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6571" y="4412902"/>
            <a:ext cx="73848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Arial"/>
              </a:rPr>
              <a:t>Resposta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69741"/>
            <a:ext cx="2466975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190875" y="3169741"/>
            <a:ext cx="2466975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798391"/>
            <a:ext cx="2466975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90875" y="3798391"/>
            <a:ext cx="2466975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427041"/>
            <a:ext cx="2466975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90875" y="4427041"/>
            <a:ext cx="2466975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150" y="2998291"/>
            <a:ext cx="5048250" cy="2114550"/>
          </a:xfrm>
          <a:prstGeom prst="roundRect">
            <a:avLst>
              <a:gd name="adj" fmla="val 36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903166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331666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3331666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960316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3960316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588966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0" y="4588966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7775" y="3379291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O DESAFIO DOS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Temos dados. Mas conseguimos responder às perguntas?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4197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Arial"/>
              </a:rPr>
              <a:t>Fontes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heterogêneas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geram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 volume, mas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não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geram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clareza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automáticas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sem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/>
              </a:rPr>
              <a:t>estruturação</a:t>
            </a:r>
            <a:r>
              <a:rPr sz="1350" b="0" i="0" u="none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3345953"/>
            <a:ext cx="102438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Servidores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6175" y="3345953"/>
            <a:ext cx="94476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Máquinas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3974603"/>
            <a:ext cx="6034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9975" y="3974603"/>
            <a:ext cx="91306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Planilhas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4603253"/>
            <a:ext cx="100831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Financeiro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5225" y="4603253"/>
            <a:ext cx="115937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Sistemas RH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5410" y="3912691"/>
            <a:ext cx="582572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Arial"/>
              </a:rPr>
              <a:t>Problema Central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4274641"/>
            <a:ext cx="5048250" cy="439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Arial"/>
              </a:rPr>
              <a:t>Como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integrar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 e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transformar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 dados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dispersos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em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informação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útil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 para a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tomada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Arial"/>
              </a:rPr>
              <a:t>decisão</a:t>
            </a:r>
            <a:r>
              <a:rPr sz="1200" b="0" i="0" u="none" dirty="0">
                <a:solidFill>
                  <a:srgbClr val="CBD5E1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83298"/>
            <a:ext cx="10972800" cy="51435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99" y="2139806"/>
            <a:ext cx="5372100" cy="790575"/>
          </a:xfrm>
          <a:prstGeom prst="roundRect">
            <a:avLst>
              <a:gd name="adj" fmla="val 963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299" y="2139806"/>
            <a:ext cx="5372100" cy="790575"/>
          </a:xfrm>
          <a:prstGeom prst="roundRect">
            <a:avLst>
              <a:gd name="adj" fmla="val 963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584287"/>
            <a:ext cx="3555950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7950" y="3584287"/>
            <a:ext cx="3555950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26300" y="3584287"/>
            <a:ext cx="3556099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483298"/>
            <a:ext cx="38100" cy="514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4" y="2401743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4" y="2401743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746212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75" y="3746212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6325" y="3746212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MENTALIDADE ANALÍTICA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Arial"/>
              </a:rPr>
              <a:t>O dashboard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não</a:t>
            </a:r>
            <a:r>
              <a:rPr sz="2400" b="1" i="0" u="none" dirty="0">
                <a:solidFill>
                  <a:srgbClr val="0F172A"/>
                </a:solidFill>
                <a:latin typeface="Arial"/>
              </a:rPr>
              <a:t> é o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objetivo</a:t>
            </a:r>
            <a:endParaRPr sz="2400" b="1" i="0" u="none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319907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Arial"/>
              </a:rPr>
              <a:t>Perguntas</a:t>
            </a:r>
            <a:r>
              <a:rPr sz="1200" b="1" i="0" u="none" dirty="0">
                <a:solidFill>
                  <a:srgbClr val="0F172A"/>
                </a:solidFill>
                <a:latin typeface="Arial"/>
              </a:rPr>
              <a:t> que </a:t>
            </a:r>
            <a:r>
              <a:rPr sz="1200" b="1" i="0" u="none" dirty="0" err="1">
                <a:solidFill>
                  <a:srgbClr val="0F172A"/>
                </a:solidFill>
                <a:latin typeface="Arial"/>
              </a:rPr>
              <a:t>orientam</a:t>
            </a:r>
            <a:r>
              <a:rPr sz="1200" b="1" i="0" u="none" dirty="0">
                <a:solidFill>
                  <a:srgbClr val="0F172A"/>
                </a:solidFill>
                <a:latin typeface="Arial"/>
              </a:rPr>
              <a:t> a </a:t>
            </a:r>
            <a:r>
              <a:rPr sz="1200" b="1" i="0" u="none" dirty="0" err="1">
                <a:solidFill>
                  <a:srgbClr val="0F172A"/>
                </a:solidFill>
                <a:latin typeface="Arial"/>
              </a:rPr>
              <a:t>construção</a:t>
            </a:r>
            <a:r>
              <a:rPr sz="1200" b="1" i="0" u="none" dirty="0">
                <a:solidFill>
                  <a:srgbClr val="0F172A"/>
                </a:solidFill>
                <a:latin typeface="Arial"/>
              </a:rPr>
              <a:t> de </a:t>
            </a:r>
            <a:r>
              <a:rPr sz="1200" b="1" i="0" u="none" dirty="0" err="1">
                <a:solidFill>
                  <a:srgbClr val="0F172A"/>
                </a:solidFill>
                <a:latin typeface="Arial"/>
              </a:rPr>
              <a:t>painéis</a:t>
            </a:r>
            <a:r>
              <a:rPr sz="1200" b="1" i="0" u="none" dirty="0">
                <a:solidFill>
                  <a:srgbClr val="0F172A"/>
                </a:solidFill>
                <a:latin typeface="Arial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654748"/>
            <a:ext cx="11315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Arial"/>
              </a:rPr>
              <a:t>Cada elemento visual do painel deve existir estritamente para ajudar a responder uma pergunta específica.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917662"/>
            <a:ext cx="3251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34155"/>
                </a:solidFill>
                <a:latin typeface="Arial"/>
              </a:rPr>
              <a:t>Qual </a:t>
            </a:r>
            <a:r>
              <a:rPr sz="1050" b="1" i="0" u="none" dirty="0" err="1">
                <a:solidFill>
                  <a:srgbClr val="334155"/>
                </a:solidFill>
                <a:latin typeface="Arial"/>
              </a:rPr>
              <a:t>servidor</a:t>
            </a:r>
            <a:r>
              <a:rPr sz="1050" b="1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sz="1050" b="1" i="0" u="none" dirty="0" err="1">
                <a:solidFill>
                  <a:srgbClr val="334155"/>
                </a:solidFill>
                <a:latin typeface="Arial"/>
              </a:rPr>
              <a:t>apresenta</a:t>
            </a:r>
            <a:r>
              <a:rPr sz="1050" b="1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sz="1050" b="1" i="0" u="none" dirty="0" err="1">
                <a:solidFill>
                  <a:srgbClr val="334155"/>
                </a:solidFill>
                <a:latin typeface="Arial"/>
              </a:rPr>
              <a:t>maior</a:t>
            </a:r>
            <a:r>
              <a:rPr sz="1050" b="1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sz="1050" b="1" i="0" u="none" dirty="0" err="1">
                <a:solidFill>
                  <a:srgbClr val="334155"/>
                </a:solidFill>
                <a:latin typeface="Arial"/>
              </a:rPr>
              <a:t>utilização</a:t>
            </a:r>
            <a:r>
              <a:rPr sz="1050" b="1" i="0" u="none" dirty="0">
                <a:solidFill>
                  <a:srgbClr val="334155"/>
                </a:solidFill>
                <a:latin typeface="Arial"/>
              </a:rPr>
              <a:t> de CPU?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975" y="3917662"/>
            <a:ext cx="3251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Arial"/>
              </a:rPr>
              <a:t>Qual máquina apresenta maior quantidade de falhas?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6325" y="4016573"/>
            <a:ext cx="394506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Arial"/>
              </a:rPr>
              <a:t>Como o faturamento evoluiu ao longo do ano?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6824" y="2339831"/>
            <a:ext cx="360629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rial"/>
              </a:rPr>
              <a:t>ABORDAGEM SUPERFICIAL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824" y="2530331"/>
            <a:ext cx="360629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Arial"/>
              </a:rPr>
              <a:t>Dashboard bonito ≠ Informação útil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524" y="2339831"/>
            <a:ext cx="19444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Arial"/>
              </a:rPr>
              <a:t>ABORDAGEM </a:t>
            </a:r>
            <a:r>
              <a:rPr lang="pt-BR" sz="1050" b="1" i="0" u="none" dirty="0">
                <a:solidFill>
                  <a:srgbClr val="166534"/>
                </a:solidFill>
                <a:latin typeface="Arial"/>
              </a:rPr>
              <a:t>PROFISSIONAL</a:t>
            </a:r>
            <a:endParaRPr sz="1050" b="1" i="0" u="none" dirty="0">
              <a:solidFill>
                <a:srgbClr val="166534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67524" y="2530331"/>
            <a:ext cx="43031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14532D"/>
                </a:solidFill>
                <a:latin typeface="Arial"/>
              </a:rPr>
              <a:t>Pergunta</a:t>
            </a:r>
            <a:r>
              <a:rPr sz="1350" b="1" i="0" u="none" dirty="0">
                <a:solidFill>
                  <a:srgbClr val="14532D"/>
                </a:solidFill>
                <a:latin typeface="Arial"/>
              </a:rPr>
              <a:t> → Dados → </a:t>
            </a:r>
            <a:r>
              <a:rPr sz="1350" b="1" i="0" u="none" dirty="0" err="1">
                <a:solidFill>
                  <a:srgbClr val="14532D"/>
                </a:solidFill>
                <a:latin typeface="Arial"/>
              </a:rPr>
              <a:t>Análise</a:t>
            </a:r>
            <a:r>
              <a:rPr sz="1350" b="1" i="0" u="none" dirty="0">
                <a:solidFill>
                  <a:srgbClr val="14532D"/>
                </a:solidFill>
                <a:latin typeface="Arial"/>
              </a:rPr>
              <a:t> → </a:t>
            </a:r>
            <a:r>
              <a:rPr sz="1350" b="1" i="0" u="none" dirty="0" err="1">
                <a:solidFill>
                  <a:srgbClr val="14532D"/>
                </a:solidFill>
                <a:latin typeface="Arial"/>
              </a:rPr>
              <a:t>Resposta</a:t>
            </a:r>
            <a:endParaRPr sz="1350" b="1" i="0" u="none" dirty="0">
              <a:solidFill>
                <a:srgbClr val="14532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1648"/>
            <a:ext cx="10972800" cy="112395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35598"/>
            <a:ext cx="187449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84140" y="3835598"/>
            <a:ext cx="187449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58680" y="3835598"/>
            <a:ext cx="187449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33220" y="3835598"/>
            <a:ext cx="187449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07760" y="3835598"/>
            <a:ext cx="187449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845248"/>
            <a:ext cx="1874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835598"/>
            <a:ext cx="187449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74565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4140" y="4845248"/>
            <a:ext cx="1874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4140" y="3835598"/>
            <a:ext cx="187449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4140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49105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8680" y="4845248"/>
            <a:ext cx="1874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58680" y="3835598"/>
            <a:ext cx="187449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58680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23645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33220" y="4845248"/>
            <a:ext cx="1874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33220" y="3835598"/>
            <a:ext cx="187449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33220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98185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07760" y="4845248"/>
            <a:ext cx="1874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07760" y="3835598"/>
            <a:ext cx="187449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07760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572726" y="3835598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90" y="4268985"/>
            <a:ext cx="952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30" y="4268985"/>
            <a:ext cx="952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70" y="4268985"/>
            <a:ext cx="952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110" y="4268985"/>
            <a:ext cx="9525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045" y="4064198"/>
            <a:ext cx="17145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010" y="4064198"/>
            <a:ext cx="228600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263" y="4064198"/>
            <a:ext cx="257175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666" y="4064198"/>
            <a:ext cx="17145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6344" y="4064198"/>
            <a:ext cx="257175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CONCEITO FUNDAMENTAL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O que é o Power BI?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925" y="2987873"/>
            <a:ext cx="10439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Arial"/>
              </a:rPr>
              <a:t>O Power BI é uma plataforma de </a:t>
            </a:r>
            <a:r>
              <a:rPr sz="1500" b="1" i="0" u="none">
                <a:solidFill>
                  <a:srgbClr val="0F172A"/>
                </a:solidFill>
                <a:latin typeface="Arial"/>
              </a:rPr>
              <a:t>Business Intelligence</a:t>
            </a:r>
            <a:r>
              <a:rPr sz="1500" b="0" i="0" u="none">
                <a:solidFill>
                  <a:srgbClr val="0F172A"/>
                </a:solidFill>
                <a:latin typeface="Arial"/>
              </a:rPr>
              <a:t> voltada a conectar, transformar, modelar, analisar e visualizar dados, permitindo gerar informações para apoiar a tomada de decisão.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231" y="4302323"/>
            <a:ext cx="213522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Arial"/>
              </a:rPr>
              <a:t>Conectar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069" y="4511873"/>
            <a:ext cx="2033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Arial"/>
              </a:rPr>
              <a:t>Múltiplas fontes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53771" y="4302323"/>
            <a:ext cx="213522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Arial"/>
              </a:rPr>
              <a:t>Transformar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4610" y="4511873"/>
            <a:ext cx="2033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Arial"/>
              </a:rPr>
              <a:t>Tratamento e ETL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8311" y="4302323"/>
            <a:ext cx="213522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Arial"/>
              </a:rPr>
              <a:t>Modelar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9150" y="4511873"/>
            <a:ext cx="2033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Arial"/>
              </a:rPr>
              <a:t>Relacionamentos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02851" y="4302323"/>
            <a:ext cx="213522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Arial"/>
              </a:rPr>
              <a:t>Analisar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3690" y="4511873"/>
            <a:ext cx="2033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Arial"/>
              </a:rPr>
              <a:t>Métricas em DAX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77392" y="4302323"/>
            <a:ext cx="213522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Arial"/>
              </a:rPr>
              <a:t>Visualizar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230" y="4511873"/>
            <a:ext cx="2033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Arial"/>
              </a:rPr>
              <a:t>Relatórios úteis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850903"/>
            <a:ext cx="10972800" cy="50482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850903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55403"/>
            <a:ext cx="53721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46003"/>
            <a:ext cx="53721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2755403"/>
            <a:ext cx="53721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3746003"/>
            <a:ext cx="53721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12578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003178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012578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003178"/>
            <a:ext cx="23812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GANHOS OPERACIONAIS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Por que utilizar o Power BI?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24197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Arial"/>
              </a:rPr>
              <a:t>Aceleração da jornada de análise com menor esforço manual de consolidação.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5022353"/>
            <a:ext cx="113157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Arial"/>
              </a:rPr>
              <a:t>A ferramenta transfere o tempo gasto em manipulação manual de dados para a interpretação de problemas reais.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2993528"/>
            <a:ext cx="4592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rial"/>
              </a:rPr>
              <a:t>Maior Produtividade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3203078"/>
            <a:ext cx="4373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Automação de rotinas repetitivas de extração e tratamento.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9675" y="3984128"/>
            <a:ext cx="456307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rial"/>
              </a:rPr>
              <a:t>Exploração Interativa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9675" y="4193678"/>
            <a:ext cx="4345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Filtros cruzados instantâneos para investigação detalhada.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8950" y="2993528"/>
            <a:ext cx="4251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rial"/>
              </a:rPr>
              <a:t>Criação de Métricas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8950" y="3203078"/>
            <a:ext cx="404924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Lógica de negócios centralizada e reutilizável via DAX.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8950" y="3984128"/>
            <a:ext cx="467636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rial"/>
              </a:rPr>
              <a:t>Múltiplas Perspectivas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8950" y="4193678"/>
            <a:ext cx="44536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Visão operacional, tática e estratégica em um único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52700" y="2412503"/>
            <a:ext cx="902970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552700" y="3326903"/>
            <a:ext cx="902970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52700" y="4241303"/>
            <a:ext cx="9029700" cy="552450"/>
          </a:xfrm>
          <a:prstGeom prst="roundRect">
            <a:avLst>
              <a:gd name="adj" fmla="val 10344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52700" y="5270003"/>
            <a:ext cx="9029700" cy="428625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3003053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3917453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4946153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25" y="2564903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762" y="2564903"/>
            <a:ext cx="1714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979" y="2564903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534" y="2564903"/>
            <a:ext cx="13335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2725" y="3479303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9696" y="3479303"/>
            <a:ext cx="1714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2613" y="3479303"/>
            <a:ext cx="1714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0662" y="4431803"/>
            <a:ext cx="1905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4083" y="4431803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7305" y="4431803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ARQUITETURA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Onde o Power BI se encaixa?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24197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Arial"/>
              </a:rPr>
              <a:t>Posicionamento funcional dentro do ecossistema de dados de uma organização.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555378"/>
            <a:ext cx="214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rial"/>
              </a:rPr>
              <a:t>FONTES ORIGINAIS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469778"/>
            <a:ext cx="214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rial"/>
              </a:rPr>
              <a:t>ENGENHARIA DE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4441328"/>
            <a:ext cx="214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CAMADA SEMÂNTICA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408116"/>
            <a:ext cx="214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rial"/>
              </a:rPr>
              <a:t>DECISORES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8793" y="5403353"/>
            <a:ext cx="1057751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Arial"/>
              </a:rPr>
              <a:t>Engenheiros, Gestores e Equipes Operacionais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52725" y="2555378"/>
            <a:ext cx="1119187" cy="15240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rial"/>
              </a:rPr>
              <a:t>Banco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4762" y="2555378"/>
            <a:ext cx="1077366" cy="15240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rial"/>
              </a:rPr>
              <a:t>APIs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4979" y="2555378"/>
            <a:ext cx="1167705" cy="15240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rial"/>
              </a:rPr>
              <a:t>Excel / 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5534" y="2555378"/>
            <a:ext cx="1068883" cy="15240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rial"/>
              </a:rPr>
              <a:t>Telemetria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52725" y="3469778"/>
            <a:ext cx="1064121" cy="15240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rial"/>
              </a:rPr>
              <a:t>Data Lake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9696" y="3469778"/>
            <a:ext cx="1505396" cy="15240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rial"/>
              </a:rPr>
              <a:t>Data Warehouse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2613" y="3469778"/>
            <a:ext cx="2261815" cy="15240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rial"/>
              </a:rPr>
              <a:t>Processamento Distribuído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662" y="4431803"/>
            <a:ext cx="1162198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Arial"/>
              </a:rPr>
              <a:t>Conexão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4083" y="4431803"/>
            <a:ext cx="1770310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Arial"/>
              </a:rPr>
              <a:t>Modelagem DAX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7305" y="4431803"/>
            <a:ext cx="1392584" cy="1714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Arial"/>
              </a:rPr>
              <a:t>Visualização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799409"/>
            <a:ext cx="10972800" cy="50482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07047"/>
            <a:ext cx="5334000" cy="1687562"/>
          </a:xfrm>
          <a:prstGeom prst="roundRect">
            <a:avLst>
              <a:gd name="adj" fmla="val 45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807047"/>
            <a:ext cx="5334000" cy="1687562"/>
          </a:xfrm>
          <a:prstGeom prst="roundRect">
            <a:avLst>
              <a:gd name="adj" fmla="val 45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799409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8327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08327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LIMITES &amp; ESCALA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Power BI não é o motor de processamento em grande escala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24197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Arial"/>
              </a:rPr>
              <a:t>Divisão adequada de responsabilidades conforme o volume de dados.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970859"/>
            <a:ext cx="113157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Arial"/>
              </a:rPr>
              <a:t>A escolha do local de processamento depende do volume de dados, infraestrutura disponível, desempenho exigido e governança.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311872"/>
            <a:ext cx="5976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Processamento no Power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311872"/>
            <a:ext cx="5667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rial"/>
              </a:rPr>
              <a:t>Processamento na Infraestrutura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3097559"/>
            <a:ext cx="2184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Arial"/>
              </a:rPr>
              <a:t>Volumes Moderados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580477"/>
            <a:ext cx="47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3578572"/>
            <a:ext cx="5738812" cy="21327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Limpeza e manipulação de arquivos locais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793747"/>
            <a:ext cx="47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3791842"/>
            <a:ext cx="5738812" cy="21327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Mesclagem de tabelas de pequeno porte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4007018"/>
            <a:ext cx="47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4005113"/>
            <a:ext cx="5738812" cy="21327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Transformações pontuais diretamente no arquivo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525" y="3097559"/>
            <a:ext cx="29970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Arial"/>
              </a:rPr>
              <a:t>Big Data / Grandes Volumes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3580477"/>
            <a:ext cx="47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3578572"/>
            <a:ext cx="5476875" cy="21327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Bancos de dados relacionais e Data Warehouses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0" y="3793747"/>
            <a:ext cx="47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5125" y="3791842"/>
            <a:ext cx="5476875" cy="21327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Motores de processamento distribuído (Spark/SQL)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4007018"/>
            <a:ext cx="47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4005113"/>
            <a:ext cx="5476875" cy="21327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Power BI consome dados já preparados via DirectQuery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4973"/>
            <a:ext cx="5410200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72200" y="2644973"/>
            <a:ext cx="5410200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54598"/>
            <a:ext cx="5410200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454598"/>
            <a:ext cx="5410200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264223"/>
            <a:ext cx="5410200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264223"/>
            <a:ext cx="5410200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625" y="2806898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72225" y="2806898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625" y="361652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225" y="361652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25" y="4426148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72225" y="4426148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DETALHAMENTO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O que acontece entre o dado e a resposta?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806898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9350" y="2806898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616523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9350" y="3616523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426148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9350" y="4426148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2806898"/>
            <a:ext cx="322091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Extração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2987873"/>
            <a:ext cx="306753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Conexão e obtenção dos dados originais.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2806898"/>
            <a:ext cx="402784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Tratamento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3225" y="2987873"/>
            <a:ext cx="383604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Correção de inconsistências, tipos, nulos e colunas.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" y="3616523"/>
            <a:ext cx="40864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Modelagem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0625" y="3797498"/>
            <a:ext cx="38918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Organização em tabelas, cardinalidade e esquemas.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3225" y="3616523"/>
            <a:ext cx="36774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Métricas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3225" y="3797498"/>
            <a:ext cx="35022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Cálculo de KPIs e regras de negócio com DAX.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0625" y="4426148"/>
            <a:ext cx="372624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Visualização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0625" y="4607123"/>
            <a:ext cx="35488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Representação gráfica intuitiva dos indicadores.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3225" y="4426148"/>
            <a:ext cx="454392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rial"/>
              </a:rPr>
              <a:t>Informação &amp; Resposta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3225" y="4607123"/>
            <a:ext cx="43275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Identificação de anomalias e fundamentação do problema.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883050"/>
            <a:ext cx="10972800" cy="50482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23257"/>
            <a:ext cx="3505200" cy="1931193"/>
          </a:xfrm>
          <a:prstGeom prst="roundRect">
            <a:avLst>
              <a:gd name="adj" fmla="val 39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23257"/>
            <a:ext cx="3505200" cy="1931193"/>
          </a:xfrm>
          <a:prstGeom prst="roundRect">
            <a:avLst>
              <a:gd name="adj" fmla="val 394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23257"/>
            <a:ext cx="3505200" cy="1931193"/>
          </a:xfrm>
          <a:prstGeom prst="roundRect">
            <a:avLst>
              <a:gd name="adj" fmla="val 3945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883050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ESTUDO DE CASO PRÁTICO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001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Do dado à resposta: monitoramento de servidores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24197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Arial"/>
              </a:rPr>
              <a:t>Aplicação prática da oficina com dados de infraestrutura IT/Engenharia.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054500"/>
            <a:ext cx="113157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Arial"/>
              </a:rPr>
              <a:t>O Power BI não resolve a falha sozinho: ele direciona a investigação técnica rápida e precisa para a equipe responsável.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961382"/>
            <a:ext cx="37861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Arial"/>
              </a:rPr>
              <a:t>COLETA &amp; TELEMETRIA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70932"/>
            <a:ext cx="39754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rial"/>
              </a:rPr>
              <a:t>Métricas Capturadas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2961382"/>
            <a:ext cx="37861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Arial"/>
              </a:rPr>
              <a:t>ANÁLISE NO 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170932"/>
            <a:ext cx="39754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Arial"/>
              </a:rPr>
              <a:t>Padrão Identificado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456682"/>
            <a:ext cx="31242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E3A8A"/>
                </a:solidFill>
                <a:latin typeface="Arial"/>
              </a:rPr>
              <a:t>"SRV02 apresenta picos recorrentes de 98% de CPU e Memória às 03:00."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2961382"/>
            <a:ext cx="37861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Arial"/>
              </a:rPr>
              <a:t>PERGUNTA DIRECIONADA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170932"/>
            <a:ext cx="3876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Arial"/>
              </a:rPr>
              <a:t>Investigação de Causa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456682"/>
            <a:ext cx="31242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Arial"/>
              </a:rPr>
              <a:t>Por que esse servidor específico está apresentando esse comportamento atípico nesse horário?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457634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3456682"/>
            <a:ext cx="3571875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Uso de CPU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3697545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3696592"/>
            <a:ext cx="3571875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Memória RAM alocada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3937456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75" y="3936503"/>
            <a:ext cx="3571875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E/S de Disco e Rede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4177367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175" y="4176414"/>
            <a:ext cx="3571875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75569"/>
                </a:solidFill>
                <a:latin typeface="Arial"/>
              </a:rPr>
              <a:t>Status do Servidor / Hora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632</Words>
  <Application>Microsoft Office PowerPoint</Application>
  <PresentationFormat>Widescreen</PresentationFormat>
  <Paragraphs>132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Mateus Antonio Coppi</cp:lastModifiedBy>
  <cp:revision>3</cp:revision>
  <dcterms:created xsi:type="dcterms:W3CDTF">2013-01-27T09:14:16Z</dcterms:created>
  <dcterms:modified xsi:type="dcterms:W3CDTF">2026-09-26T16:02:15Z</dcterms:modified>
  <cp:category/>
</cp:coreProperties>
</file>